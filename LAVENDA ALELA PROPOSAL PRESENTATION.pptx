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68" r:id="rId15"/>
    <p:sldId id="269" r:id="rId16"/>
    <p:sldId id="271"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420" y="84"/>
      </p:cViewPr>
      <p:guideLst/>
    </p:cSldViewPr>
  </p:slideViewPr>
  <p:notesTextViewPr>
    <p:cViewPr>
      <p:scale>
        <a:sx n="1" d="1"/>
        <a:sy n="1" d="1"/>
      </p:scale>
      <p:origin x="0" y="0"/>
    </p:cViewPr>
  </p:notesTextViewPr>
  <p:sorterViewPr>
    <p:cViewPr>
      <p:scale>
        <a:sx n="100" d="100"/>
        <a:sy n="100" d="100"/>
      </p:scale>
      <p:origin x="0" y="-4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9702D16-3864-4DFA-B864-EF5810E3CDE2}"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3762424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702D16-3864-4DFA-B864-EF5810E3CDE2}"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1270031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9702D16-3864-4DFA-B864-EF5810E3CDE2}"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3163502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9702D16-3864-4DFA-B864-EF5810E3CDE2}"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3355944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9702D16-3864-4DFA-B864-EF5810E3CDE2}" type="datetimeFigureOut">
              <a:rPr lang="en-US" smtClean="0"/>
              <a:t>2/9/2025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1923969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9702D16-3864-4DFA-B864-EF5810E3CDE2}" type="datetimeFigureOut">
              <a:rPr lang="en-US" smtClean="0"/>
              <a:t>2/9/2025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3080111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702D16-3864-4DFA-B864-EF5810E3CDE2}" type="datetimeFigureOut">
              <a:rPr lang="en-US" smtClean="0"/>
              <a:t>2/9/2025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4153064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9702D16-3864-4DFA-B864-EF5810E3CDE2}"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2830871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9702D16-3864-4DFA-B864-EF5810E3CDE2}"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4214418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9702D16-3864-4DFA-B864-EF5810E3CDE2}"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132412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9702D16-3864-4DFA-B864-EF5810E3CDE2}"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71899D8-3DF0-498A-9980-C5BB92B21EE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26844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9702D16-3864-4DFA-B864-EF5810E3CDE2}"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8897867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9702D16-3864-4DFA-B864-EF5810E3CDE2}"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71899D8-3DF0-498A-9980-C5BB92B21EE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55776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9702D16-3864-4DFA-B864-EF5810E3CDE2}" type="datetimeFigureOut">
              <a:rPr lang="en-US" smtClean="0"/>
              <a:t>2/9/2025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26820397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702D16-3864-4DFA-B864-EF5810E3CDE2}"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2518147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702D16-3864-4DFA-B864-EF5810E3CDE2}" type="datetimeFigureOut">
              <a:rPr lang="en-US" smtClean="0"/>
              <a:t>2/9/2025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71899D8-3DF0-498A-9980-C5BB92B21EEB}" type="slidenum">
              <a:rPr lang="en-US" smtClean="0"/>
              <a:t>‹#›</a:t>
            </a:fld>
            <a:endParaRPr lang="en-US"/>
          </a:p>
        </p:txBody>
      </p:sp>
    </p:spTree>
    <p:extLst>
      <p:ext uri="{BB962C8B-B14F-4D97-AF65-F5344CB8AC3E}">
        <p14:creationId xmlns:p14="http://schemas.microsoft.com/office/powerpoint/2010/main" val="999901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9702D16-3864-4DFA-B864-EF5810E3CDE2}" type="datetimeFigureOut">
              <a:rPr lang="en-US" smtClean="0"/>
              <a:t>2/9/2025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71899D8-3DF0-498A-9980-C5BB92B21EEB}" type="slidenum">
              <a:rPr lang="en-US" smtClean="0"/>
              <a:t>‹#›</a:t>
            </a:fld>
            <a:endParaRPr lang="en-US"/>
          </a:p>
        </p:txBody>
      </p:sp>
    </p:spTree>
    <p:extLst>
      <p:ext uri="{BB962C8B-B14F-4D97-AF65-F5344CB8AC3E}">
        <p14:creationId xmlns:p14="http://schemas.microsoft.com/office/powerpoint/2010/main" val="1583222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ibisworld.com/industry-statistics/market-size/hair-nail-salons-united-states/" TargetMode="External"/><Relationship Id="rId2" Type="http://schemas.openxmlformats.org/officeDocument/2006/relationships/hyperlink" Target="https://www.statista.com/topics/4503/beauty-and-personal-care-marke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anose="02020603050405020304" pitchFamily="18" charset="0"/>
                <a:cs typeface="Times New Roman" panose="02020603050405020304" pitchFamily="18" charset="0"/>
              </a:rPr>
              <a:t>GLAMSPACE: YOUR BEAUTY HUB</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fontScale="85000" lnSpcReduction="20000"/>
          </a:bodyPr>
          <a:lstStyle/>
          <a:p>
            <a:pPr algn="r"/>
            <a:r>
              <a:rPr lang="en-US" dirty="0" smtClean="0">
                <a:latin typeface="Times New Roman" panose="02020603050405020304" pitchFamily="18" charset="0"/>
                <a:cs typeface="Times New Roman" panose="02020603050405020304" pitchFamily="18" charset="0"/>
              </a:rPr>
              <a:t>PRESENTED BY : LAVENDA ALELA</a:t>
            </a:r>
          </a:p>
          <a:p>
            <a:pPr algn="r"/>
            <a:r>
              <a:rPr lang="en-US" dirty="0" smtClean="0">
                <a:latin typeface="Times New Roman" panose="02020603050405020304" pitchFamily="18" charset="0"/>
                <a:cs typeface="Times New Roman" panose="02020603050405020304" pitchFamily="18" charset="0"/>
              </a:rPr>
              <a:t>COURSE : DBIT</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KCA UNIVERSITY</a:t>
            </a:r>
          </a:p>
          <a:p>
            <a:pPr algn="r"/>
            <a:r>
              <a:rPr lang="en-US" dirty="0" smtClean="0">
                <a:latin typeface="Times New Roman" panose="02020603050405020304" pitchFamily="18" charset="0"/>
                <a:cs typeface="Times New Roman" panose="02020603050405020304" pitchFamily="18" charset="0"/>
              </a:rPr>
              <a:t>DATE : 6/02/2025</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016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BACKGROUND</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2000" dirty="0" err="1" smtClean="0">
                <a:latin typeface="Times New Roman" panose="02020603050405020304" pitchFamily="18" charset="0"/>
                <a:cs typeface="Times New Roman" panose="02020603050405020304" pitchFamily="18" charset="0"/>
              </a:rPr>
              <a:t>Glamspace</a:t>
            </a:r>
            <a:r>
              <a:rPr lang="en-US" sz="2000" dirty="0" smtClean="0">
                <a:latin typeface="Times New Roman" panose="02020603050405020304" pitchFamily="18" charset="0"/>
                <a:cs typeface="Times New Roman" panose="02020603050405020304" pitchFamily="18" charset="0"/>
              </a:rPr>
              <a:t>: your beauty hub is a solon and barber shops locator. </a:t>
            </a:r>
            <a:r>
              <a:rPr lang="en-US" sz="2000" dirty="0">
                <a:latin typeface="Times New Roman" panose="02020603050405020304" pitchFamily="18" charset="0"/>
                <a:cs typeface="Times New Roman" panose="02020603050405020304" pitchFamily="18" charset="0"/>
              </a:rPr>
              <a:t>The </a:t>
            </a:r>
            <a:r>
              <a:rPr lang="en-US" sz="2000" dirty="0" smtClean="0">
                <a:latin typeface="Times New Roman" panose="02020603050405020304" pitchFamily="18" charset="0"/>
                <a:cs typeface="Times New Roman" panose="02020603050405020304" pitchFamily="18" charset="0"/>
              </a:rPr>
              <a:t>system will specialize </a:t>
            </a:r>
            <a:r>
              <a:rPr lang="en-US" sz="2000" dirty="0">
                <a:latin typeface="Times New Roman" panose="02020603050405020304" pitchFamily="18" charset="0"/>
                <a:cs typeface="Times New Roman" panose="02020603050405020304" pitchFamily="18" charset="0"/>
              </a:rPr>
              <a:t>in </a:t>
            </a:r>
            <a:r>
              <a:rPr lang="en-US" sz="2000" dirty="0" smtClean="0">
                <a:latin typeface="Times New Roman" panose="02020603050405020304" pitchFamily="18" charset="0"/>
                <a:cs typeface="Times New Roman" panose="02020603050405020304" pitchFamily="18" charset="0"/>
              </a:rPr>
              <a:t>salon and barber shop locating, pricing solutions</a:t>
            </a:r>
            <a:r>
              <a:rPr lang="en-US" sz="2000" dirty="0">
                <a:latin typeface="Times New Roman" panose="02020603050405020304" pitchFamily="18" charset="0"/>
                <a:cs typeface="Times New Roman" panose="02020603050405020304" pitchFamily="18" charset="0"/>
              </a:rPr>
              <a:t>, and </a:t>
            </a:r>
            <a:r>
              <a:rPr lang="en-US" sz="2000" dirty="0" smtClean="0">
                <a:latin typeface="Times New Roman" panose="02020603050405020304" pitchFamily="18" charset="0"/>
                <a:cs typeface="Times New Roman" panose="02020603050405020304" pitchFamily="18" charset="0"/>
              </a:rPr>
              <a:t>beauty services</a:t>
            </a:r>
            <a:r>
              <a:rPr lang="en-US" sz="2000" dirty="0">
                <a:latin typeface="Times New Roman" panose="02020603050405020304" pitchFamily="18" charset="0"/>
                <a:cs typeface="Times New Roman" panose="02020603050405020304" pitchFamily="18" charset="0"/>
              </a:rPr>
              <a:t>. With a strong commitment to efficiency and customer satisfaction, the </a:t>
            </a:r>
            <a:r>
              <a:rPr lang="en-US" sz="2000" dirty="0" smtClean="0">
                <a:latin typeface="Times New Roman" panose="02020603050405020304" pitchFamily="18" charset="0"/>
                <a:cs typeface="Times New Roman" panose="02020603050405020304" pitchFamily="18" charset="0"/>
              </a:rPr>
              <a:t>system  </a:t>
            </a:r>
            <a:r>
              <a:rPr lang="en-US" sz="2000" dirty="0">
                <a:latin typeface="Times New Roman" panose="02020603050405020304" pitchFamily="18" charset="0"/>
                <a:cs typeface="Times New Roman" panose="02020603050405020304" pitchFamily="18" charset="0"/>
              </a:rPr>
              <a:t>serves a diverse clientele, including </a:t>
            </a:r>
            <a:r>
              <a:rPr lang="en-US" sz="2000" dirty="0" smtClean="0">
                <a:latin typeface="Times New Roman" panose="02020603050405020304" pitchFamily="18" charset="0"/>
                <a:cs typeface="Times New Roman" panose="02020603050405020304" pitchFamily="18" charset="0"/>
              </a:rPr>
              <a:t>entrepreneurs, office workers ,students and anyone interested in beauty services.</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Growing beauty and grooming industry</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Increasing demand for convenient service location</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Digital transformation in beauty sector</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Rise of mobile and web-based solutions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7549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1421" y="794798"/>
            <a:ext cx="8911687" cy="1280890"/>
          </a:xfrm>
        </p:spPr>
        <p:txBody>
          <a:bodyPr/>
          <a:lstStyle/>
          <a:p>
            <a:r>
              <a:rPr lang="en-US" dirty="0" smtClean="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2532760" y="1432855"/>
            <a:ext cx="811388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None/>
            </a:pPr>
            <a:r>
              <a:rPr lang="en-US" sz="2400" dirty="0">
                <a:latin typeface="Times New Roman" panose="02020603050405020304" pitchFamily="18" charset="0"/>
                <a:cs typeface="Times New Roman" panose="02020603050405020304" pitchFamily="18" charset="0"/>
              </a:rPr>
              <a:t>Consumers often face significant challenges in locating </a:t>
            </a:r>
            <a:r>
              <a:rPr lang="en-US" sz="2400" dirty="0" smtClean="0">
                <a:latin typeface="Times New Roman" panose="02020603050405020304" pitchFamily="18" charset="0"/>
                <a:cs typeface="Times New Roman" panose="02020603050405020304" pitchFamily="18" charset="0"/>
              </a:rPr>
              <a:t>nearby</a:t>
            </a: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salons or barbershops due to the lack of a centralized </a:t>
            </a:r>
            <a:endParaRPr lang="en-US" sz="2400" dirty="0" smtClean="0">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information </a:t>
            </a:r>
            <a:r>
              <a:rPr lang="en-US" sz="2400" dirty="0">
                <a:latin typeface="Times New Roman" panose="02020603050405020304" pitchFamily="18" charset="0"/>
                <a:cs typeface="Times New Roman" panose="02020603050405020304" pitchFamily="18" charset="0"/>
              </a:rPr>
              <a:t>system. This results in limited access to essential </a:t>
            </a:r>
            <a:endParaRPr lang="en-US" sz="2400" dirty="0" smtClean="0">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service </a:t>
            </a:r>
            <a:r>
              <a:rPr lang="en-US" sz="2400" dirty="0">
                <a:latin typeface="Times New Roman" panose="02020603050405020304" pitchFamily="18" charset="0"/>
                <a:cs typeface="Times New Roman" panose="02020603050405020304" pitchFamily="18" charset="0"/>
              </a:rPr>
              <a:t>details and pricing, making it difficult to </a:t>
            </a:r>
            <a:r>
              <a:rPr lang="en-US" sz="2400" dirty="0" smtClean="0">
                <a:latin typeface="Times New Roman" panose="02020603050405020304" pitchFamily="18" charset="0"/>
                <a:cs typeface="Times New Roman" panose="02020603050405020304" pitchFamily="18" charset="0"/>
              </a:rPr>
              <a:t>compare</a:t>
            </a: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different service providers effectively. Additionally, the </a:t>
            </a:r>
            <a:r>
              <a:rPr lang="en-US" sz="2400" dirty="0" smtClean="0">
                <a:latin typeface="Times New Roman" panose="02020603050405020304" pitchFamily="18" charset="0"/>
                <a:cs typeface="Times New Roman" panose="02020603050405020304" pitchFamily="18" charset="0"/>
              </a:rPr>
              <a:t>absence</a:t>
            </a: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 a reliable review system leaves users without </a:t>
            </a:r>
            <a:r>
              <a:rPr lang="en-US" sz="2400" dirty="0" smtClean="0">
                <a:latin typeface="Times New Roman" panose="02020603050405020304" pitchFamily="18" charset="0"/>
                <a:cs typeface="Times New Roman" panose="02020603050405020304" pitchFamily="18" charset="0"/>
              </a:rPr>
              <a:t>trustworthy</a:t>
            </a: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feedback on the quality of services, leading to a </a:t>
            </a:r>
            <a:r>
              <a:rPr lang="en-US" sz="2400" dirty="0" smtClean="0">
                <a:latin typeface="Times New Roman" panose="02020603050405020304" pitchFamily="18" charset="0"/>
                <a:cs typeface="Times New Roman" panose="02020603050405020304" pitchFamily="18" charset="0"/>
              </a:rPr>
              <a:t>time-</a:t>
            </a: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consuming </a:t>
            </a:r>
            <a:r>
              <a:rPr lang="en-US" sz="2400" dirty="0">
                <a:latin typeface="Times New Roman" panose="02020603050405020304" pitchFamily="18" charset="0"/>
                <a:cs typeface="Times New Roman" panose="02020603050405020304" pitchFamily="18" charset="0"/>
              </a:rPr>
              <a:t>and inefficient process of physically </a:t>
            </a:r>
            <a:r>
              <a:rPr lang="en-US" sz="2400" dirty="0" smtClean="0">
                <a:latin typeface="Times New Roman" panose="02020603050405020304" pitchFamily="18" charset="0"/>
                <a:cs typeface="Times New Roman" panose="02020603050405020304" pitchFamily="18" charset="0"/>
              </a:rPr>
              <a:t>searching</a:t>
            </a: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for suitable locations. Consequently, these issues </a:t>
            </a:r>
            <a:r>
              <a:rPr lang="en-US" sz="2400" dirty="0" smtClean="0">
                <a:latin typeface="Times New Roman" panose="02020603050405020304" pitchFamily="18" charset="0"/>
                <a:cs typeface="Times New Roman" panose="02020603050405020304" pitchFamily="18" charset="0"/>
              </a:rPr>
              <a:t>collectively</a:t>
            </a: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hinder the overall experience of finding and utilizing </a:t>
            </a:r>
            <a:r>
              <a:rPr lang="en-US" sz="2400" dirty="0" smtClean="0">
                <a:latin typeface="Times New Roman" panose="02020603050405020304" pitchFamily="18" charset="0"/>
                <a:cs typeface="Times New Roman" panose="02020603050405020304" pitchFamily="18" charset="0"/>
              </a:rPr>
              <a:t>salon</a:t>
            </a:r>
          </a:p>
          <a:p>
            <a:pPr marL="0" lvl="0" indent="0" defTabSz="914400" eaLnBrk="0" fontAlgn="base" hangingPunct="0">
              <a:spcBef>
                <a:spcPct val="0"/>
              </a:spcBef>
              <a:spcAft>
                <a:spcPct val="0"/>
              </a:spcAft>
              <a:buClrTx/>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 barbershop services.</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0275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PROPOSED SOLUTION</a:t>
            </a:r>
            <a:endParaRPr lang="en-US"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2487456" y="1665769"/>
            <a:ext cx="783916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proposed solution is to have a system equipped</a:t>
            </a:r>
            <a:r>
              <a:rPr kumimoji="0" lang="en-US" altLang="en-US"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with locator where one can find salon and grooming services easily.</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Font typeface="Wingdings" panose="05000000000000000000" pitchFamily="2" charset="2"/>
              <a:buChar char="ü"/>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Digital locator system using</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indent="0" defTabSz="914400" eaLnBrk="0" fontAlgn="base" hangingPunct="0">
              <a:spcBef>
                <a:spcPct val="0"/>
              </a:spcBef>
              <a:spcAft>
                <a:spcPct val="0"/>
              </a:spcAft>
              <a:buClrTx/>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Visual Basic .NET</a:t>
            </a:r>
          </a:p>
          <a:p>
            <a:pPr marL="0" indent="0" defTabSz="914400" eaLnBrk="0" fontAlgn="base" hangingPunct="0">
              <a:spcBef>
                <a:spcPct val="0"/>
              </a:spcBef>
              <a:spcAft>
                <a:spcPct val="0"/>
              </a:spcAft>
              <a:buClrTx/>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Microsoft Access Database</a:t>
            </a:r>
          </a:p>
          <a:p>
            <a:pPr marL="0" indent="0" defTabSz="914400" eaLnBrk="0" fontAlgn="base" hangingPunct="0">
              <a:spcBef>
                <a:spcPct val="0"/>
              </a:spcBef>
              <a:spcAft>
                <a:spcPct val="0"/>
              </a:spcAft>
              <a:buClrTx/>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User-friendly interface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Location-based search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Service and price comparison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Review and rating system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Detailed shop information </a:t>
            </a:r>
          </a:p>
        </p:txBody>
      </p:sp>
    </p:spTree>
    <p:extLst>
      <p:ext uri="{BB962C8B-B14F-4D97-AF65-F5344CB8AC3E}">
        <p14:creationId xmlns:p14="http://schemas.microsoft.com/office/powerpoint/2010/main" val="18575097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04818"/>
          </a:xfrm>
        </p:spPr>
        <p:txBody>
          <a:bodyPr/>
          <a:lstStyle/>
          <a:p>
            <a:r>
              <a:rPr lang="en-US" dirty="0" smtClean="0">
                <a:latin typeface="Times New Roman" panose="02020603050405020304" pitchFamily="18" charset="0"/>
                <a:cs typeface="Times New Roman" panose="02020603050405020304" pitchFamily="18" charset="0"/>
              </a:rPr>
              <a:t>PROJECT OBJECTIVES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328928"/>
            <a:ext cx="8915400" cy="5529072"/>
          </a:xfrm>
        </p:spPr>
        <p:txBody>
          <a:bodyPr>
            <a:normAutofit fontScale="62500" lnSpcReduction="20000"/>
          </a:bodyPr>
          <a:lstStyle/>
          <a:p>
            <a:r>
              <a:rPr lang="en-US" b="1" u="sng" dirty="0"/>
              <a:t>Feasibility Study</a:t>
            </a:r>
            <a:r>
              <a:rPr lang="en-US" dirty="0"/>
              <a:t>:</a:t>
            </a:r>
          </a:p>
          <a:p>
            <a:pPr>
              <a:buFont typeface="Wingdings" panose="05000000000000000000" pitchFamily="2" charset="2"/>
              <a:buChar char="§"/>
            </a:pPr>
            <a:r>
              <a:rPr lang="en-US" dirty="0"/>
              <a:t>Technical </a:t>
            </a:r>
            <a:r>
              <a:rPr lang="en-US" dirty="0" smtClean="0"/>
              <a:t>feasibility; hardware, software and skills</a:t>
            </a:r>
            <a:endParaRPr lang="en-US" dirty="0"/>
          </a:p>
          <a:p>
            <a:pPr>
              <a:buFont typeface="Wingdings" panose="05000000000000000000" pitchFamily="2" charset="2"/>
              <a:buChar char="§"/>
            </a:pPr>
            <a:r>
              <a:rPr lang="en-US" dirty="0"/>
              <a:t>Economic </a:t>
            </a:r>
            <a:r>
              <a:rPr lang="en-US" dirty="0" smtClean="0"/>
              <a:t>feasibility; development and operation cost</a:t>
            </a:r>
            <a:endParaRPr lang="en-US" dirty="0"/>
          </a:p>
          <a:p>
            <a:pPr>
              <a:buFont typeface="Wingdings" panose="05000000000000000000" pitchFamily="2" charset="2"/>
              <a:buChar char="§"/>
            </a:pPr>
            <a:r>
              <a:rPr lang="en-US" dirty="0"/>
              <a:t>Operational </a:t>
            </a:r>
            <a:r>
              <a:rPr lang="en-US" dirty="0" smtClean="0"/>
              <a:t>feasibility; user acceptance</a:t>
            </a:r>
            <a:endParaRPr lang="en-US" dirty="0"/>
          </a:p>
          <a:p>
            <a:r>
              <a:rPr lang="en-US" b="1" u="sng" dirty="0"/>
              <a:t>Analysis:</a:t>
            </a:r>
          </a:p>
          <a:p>
            <a:pPr>
              <a:buFont typeface="Wingdings" panose="05000000000000000000" pitchFamily="2" charset="2"/>
              <a:buChar char="§"/>
            </a:pPr>
            <a:r>
              <a:rPr lang="en-US" dirty="0"/>
              <a:t>Requirements </a:t>
            </a:r>
            <a:r>
              <a:rPr lang="en-US" dirty="0" smtClean="0"/>
              <a:t>gathering; using interviews, surveys</a:t>
            </a:r>
            <a:endParaRPr lang="en-US" dirty="0"/>
          </a:p>
          <a:p>
            <a:pPr>
              <a:buFont typeface="Wingdings" panose="05000000000000000000" pitchFamily="2" charset="2"/>
              <a:buChar char="§"/>
            </a:pPr>
            <a:r>
              <a:rPr lang="en-US" dirty="0"/>
              <a:t>System </a:t>
            </a:r>
            <a:r>
              <a:rPr lang="en-US" dirty="0" smtClean="0"/>
              <a:t>analysis; current system evaluation</a:t>
            </a:r>
            <a:endParaRPr lang="en-US" dirty="0"/>
          </a:p>
          <a:p>
            <a:pPr>
              <a:buFont typeface="Wingdings" panose="05000000000000000000" pitchFamily="2" charset="2"/>
              <a:buChar char="§"/>
            </a:pPr>
            <a:r>
              <a:rPr lang="en-US" dirty="0"/>
              <a:t>User needs assessment</a:t>
            </a:r>
          </a:p>
          <a:p>
            <a:r>
              <a:rPr lang="en-US" b="1" u="sng" dirty="0"/>
              <a:t>Design:</a:t>
            </a:r>
          </a:p>
          <a:p>
            <a:pPr>
              <a:buFont typeface="Wingdings" panose="05000000000000000000" pitchFamily="2" charset="2"/>
              <a:buChar char="§"/>
            </a:pPr>
            <a:r>
              <a:rPr lang="en-US" dirty="0"/>
              <a:t>Database </a:t>
            </a:r>
            <a:r>
              <a:rPr lang="en-US" dirty="0" smtClean="0"/>
              <a:t>design; tables</a:t>
            </a:r>
            <a:endParaRPr lang="en-US" dirty="0"/>
          </a:p>
          <a:p>
            <a:pPr>
              <a:buFont typeface="Wingdings" panose="05000000000000000000" pitchFamily="2" charset="2"/>
              <a:buChar char="§"/>
            </a:pPr>
            <a:r>
              <a:rPr lang="en-US" dirty="0"/>
              <a:t>Interface </a:t>
            </a:r>
            <a:r>
              <a:rPr lang="en-US" dirty="0" smtClean="0"/>
              <a:t>design; search screen</a:t>
            </a:r>
            <a:endParaRPr lang="en-US" dirty="0"/>
          </a:p>
          <a:p>
            <a:pPr>
              <a:buFont typeface="Wingdings" panose="05000000000000000000" pitchFamily="2" charset="2"/>
              <a:buChar char="§"/>
            </a:pPr>
            <a:r>
              <a:rPr lang="en-US" dirty="0"/>
              <a:t>System architecture</a:t>
            </a:r>
          </a:p>
          <a:p>
            <a:r>
              <a:rPr lang="en-US" b="1" u="sng" dirty="0"/>
              <a:t>Testing:</a:t>
            </a:r>
          </a:p>
          <a:p>
            <a:pPr>
              <a:buFont typeface="Wingdings" panose="05000000000000000000" pitchFamily="2" charset="2"/>
              <a:buChar char="§"/>
            </a:pPr>
            <a:r>
              <a:rPr lang="en-US" dirty="0"/>
              <a:t>Unit </a:t>
            </a:r>
            <a:r>
              <a:rPr lang="en-US" dirty="0" smtClean="0"/>
              <a:t>testing; testing individual components</a:t>
            </a:r>
            <a:endParaRPr lang="en-US" dirty="0"/>
          </a:p>
          <a:p>
            <a:pPr>
              <a:buFont typeface="Wingdings" panose="05000000000000000000" pitchFamily="2" charset="2"/>
              <a:buChar char="§"/>
            </a:pPr>
            <a:r>
              <a:rPr lang="en-US" dirty="0"/>
              <a:t>Integration </a:t>
            </a:r>
            <a:r>
              <a:rPr lang="en-US" dirty="0" smtClean="0"/>
              <a:t>testing; testing combined components</a:t>
            </a:r>
            <a:endParaRPr lang="en-US" dirty="0"/>
          </a:p>
          <a:p>
            <a:pPr>
              <a:buFont typeface="Wingdings" panose="05000000000000000000" pitchFamily="2" charset="2"/>
              <a:buChar char="§"/>
            </a:pPr>
            <a:r>
              <a:rPr lang="en-US" dirty="0"/>
              <a:t>User acceptance </a:t>
            </a:r>
            <a:r>
              <a:rPr lang="en-US" dirty="0" smtClean="0"/>
              <a:t>testing; real user testing</a:t>
            </a:r>
            <a:endParaRPr lang="en-US" dirty="0"/>
          </a:p>
          <a:p>
            <a:r>
              <a:rPr lang="en-US" b="1" u="sng" dirty="0"/>
              <a:t>Implementation:</a:t>
            </a:r>
          </a:p>
          <a:p>
            <a:pPr>
              <a:buFont typeface="Wingdings" panose="05000000000000000000" pitchFamily="2" charset="2"/>
              <a:buChar char="§"/>
            </a:pPr>
            <a:r>
              <a:rPr lang="en-US" dirty="0"/>
              <a:t>System </a:t>
            </a:r>
            <a:r>
              <a:rPr lang="en-US" dirty="0" smtClean="0"/>
              <a:t>deployment; database setup</a:t>
            </a:r>
            <a:endParaRPr lang="en-US" dirty="0"/>
          </a:p>
          <a:p>
            <a:pPr>
              <a:buFont typeface="Wingdings" panose="05000000000000000000" pitchFamily="2" charset="2"/>
              <a:buChar char="§"/>
            </a:pPr>
            <a:r>
              <a:rPr lang="en-US" dirty="0"/>
              <a:t>User </a:t>
            </a:r>
            <a:r>
              <a:rPr lang="en-US" dirty="0" smtClean="0"/>
              <a:t>training; training sessions </a:t>
            </a:r>
            <a:endParaRPr lang="en-US" dirty="0"/>
          </a:p>
          <a:p>
            <a:pPr>
              <a:buFont typeface="Wingdings" panose="05000000000000000000" pitchFamily="2" charset="2"/>
              <a:buChar char="§"/>
            </a:pPr>
            <a:r>
              <a:rPr lang="en-US" dirty="0"/>
              <a:t>Maintenance </a:t>
            </a:r>
            <a:r>
              <a:rPr lang="en-US" dirty="0" smtClean="0"/>
              <a:t>plan; regular updates</a:t>
            </a:r>
            <a:endParaRPr lang="en-US" dirty="0"/>
          </a:p>
          <a:p>
            <a:endParaRPr lang="en-US" dirty="0"/>
          </a:p>
        </p:txBody>
      </p:sp>
    </p:spTree>
    <p:extLst>
      <p:ext uri="{BB962C8B-B14F-4D97-AF65-F5344CB8AC3E}">
        <p14:creationId xmlns:p14="http://schemas.microsoft.com/office/powerpoint/2010/main" val="32461121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SCOPE</a:t>
            </a:r>
            <a:endParaRPr lang="en-US" dirty="0"/>
          </a:p>
        </p:txBody>
      </p:sp>
      <p:sp>
        <p:nvSpPr>
          <p:cNvPr id="3" name="Content Placeholder 2"/>
          <p:cNvSpPr>
            <a:spLocks noGrp="1"/>
          </p:cNvSpPr>
          <p:nvPr>
            <p:ph idx="1"/>
          </p:nvPr>
        </p:nvSpPr>
        <p:spPr>
          <a:xfrm>
            <a:off x="2589212" y="1365504"/>
            <a:ext cx="8915400" cy="5266944"/>
          </a:xfrm>
        </p:spPr>
        <p:txBody>
          <a:bodyPr>
            <a:normAutofit/>
          </a:bodyPr>
          <a:lstStyle/>
          <a:p>
            <a:r>
              <a:rPr lang="en-US" b="1" dirty="0">
                <a:latin typeface="Times New Roman" panose="02020603050405020304" pitchFamily="18" charset="0"/>
                <a:cs typeface="Times New Roman" panose="02020603050405020304" pitchFamily="18" charset="0"/>
              </a:rPr>
              <a:t>In Scope</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Salon/Barbershop registration</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Search functionality</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Review system</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Basic reporting</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Location mapping</a:t>
            </a:r>
          </a:p>
          <a:p>
            <a:r>
              <a:rPr lang="en-US" b="1" dirty="0">
                <a:latin typeface="Times New Roman" panose="02020603050405020304" pitchFamily="18" charset="0"/>
                <a:cs typeface="Times New Roman" panose="02020603050405020304" pitchFamily="18" charset="0"/>
              </a:rPr>
              <a:t>Out of Scope: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Online booking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Payment processing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chat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Mobile application</a:t>
            </a:r>
          </a:p>
          <a:p>
            <a:endParaRPr lang="en-US" dirty="0"/>
          </a:p>
        </p:txBody>
      </p:sp>
    </p:spTree>
    <p:extLst>
      <p:ext uri="{BB962C8B-B14F-4D97-AF65-F5344CB8AC3E}">
        <p14:creationId xmlns:p14="http://schemas.microsoft.com/office/powerpoint/2010/main" val="36265616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133600"/>
            <a:ext cx="8915400" cy="4596384"/>
          </a:xfrm>
        </p:spPr>
        <p:txBody>
          <a:bodyPr/>
          <a:lstStyle/>
          <a:p>
            <a:pPr marL="0" indent="0">
              <a:buNone/>
            </a:pPr>
            <a:r>
              <a:rPr lang="en-US" sz="2400" dirty="0">
                <a:latin typeface="Times New Roman" panose="02020603050405020304" pitchFamily="18" charset="0"/>
                <a:cs typeface="Times New Roman" panose="02020603050405020304" pitchFamily="18" charset="0"/>
              </a:rPr>
              <a:t>In today's fast-paced world, convenience and efficiency are paramount, and this extends to personal grooming services. The Salon and Barber Shop Locator project is justified by several compelling factors that address current market needs and consumer pain points</a:t>
            </a:r>
            <a:r>
              <a:rPr lang="en-US" sz="2400" dirty="0" smtClean="0">
                <a:latin typeface="Times New Roman" panose="02020603050405020304" pitchFamily="18" charset="0"/>
                <a:cs typeface="Times New Roman" panose="02020603050405020304" pitchFamily="18" charset="0"/>
              </a:rPr>
              <a:t>.</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Difficulty </a:t>
            </a:r>
            <a:r>
              <a:rPr lang="en-US" sz="2400" dirty="0">
                <a:latin typeface="Times New Roman" panose="02020603050405020304" pitchFamily="18" charset="0"/>
                <a:cs typeface="Times New Roman" panose="02020603050405020304" pitchFamily="18" charset="0"/>
              </a:rPr>
              <a:t>in Finding Nearby </a:t>
            </a:r>
            <a:r>
              <a:rPr lang="en-US" sz="2400" dirty="0" smtClean="0">
                <a:latin typeface="Times New Roman" panose="02020603050405020304" pitchFamily="18" charset="0"/>
                <a:cs typeface="Times New Roman" panose="02020603050405020304" pitchFamily="18" charset="0"/>
              </a:rPr>
              <a:t>Salons/Barbershops</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Lack of Centralized Information </a:t>
            </a:r>
            <a:r>
              <a:rPr lang="en-US" sz="2400" dirty="0" smtClean="0">
                <a:latin typeface="Times New Roman" panose="02020603050405020304" pitchFamily="18" charset="0"/>
                <a:cs typeface="Times New Roman" panose="02020603050405020304" pitchFamily="18" charset="0"/>
              </a:rPr>
              <a:t>System</a:t>
            </a:r>
          </a:p>
          <a:p>
            <a:pPr marL="457200" indent="-457200">
              <a:buAutoNum type="arabicPeriod"/>
            </a:pPr>
            <a:r>
              <a:rPr lang="en-US" sz="2400" dirty="0">
                <a:latin typeface="Times New Roman" panose="02020603050405020304" pitchFamily="18" charset="0"/>
                <a:cs typeface="Times New Roman" panose="02020603050405020304" pitchFamily="18" charset="0"/>
              </a:rPr>
              <a:t>Limited Access to Service Details and </a:t>
            </a:r>
            <a:r>
              <a:rPr lang="en-US" sz="2400" dirty="0" smtClean="0">
                <a:latin typeface="Times New Roman" panose="02020603050405020304" pitchFamily="18" charset="0"/>
                <a:cs typeface="Times New Roman" panose="02020603050405020304" pitchFamily="18" charset="0"/>
              </a:rPr>
              <a:t>Pricing</a:t>
            </a:r>
          </a:p>
          <a:p>
            <a:pPr marL="457200" indent="-457200">
              <a:buAutoNum type="arabicPeriod"/>
            </a:pPr>
            <a:r>
              <a:rPr lang="en-US" sz="2400" dirty="0">
                <a:latin typeface="Times New Roman" panose="02020603050405020304" pitchFamily="18" charset="0"/>
                <a:cs typeface="Times New Roman" panose="02020603050405020304" pitchFamily="18" charset="0"/>
              </a:rPr>
              <a:t>Time Wasted in Physical Location </a:t>
            </a:r>
            <a:r>
              <a:rPr lang="en-US" sz="2400" dirty="0" smtClean="0">
                <a:latin typeface="Times New Roman" panose="02020603050405020304" pitchFamily="18" charset="0"/>
                <a:cs typeface="Times New Roman" panose="02020603050405020304" pitchFamily="18" charset="0"/>
              </a:rPr>
              <a:t>Search</a:t>
            </a:r>
          </a:p>
          <a:p>
            <a:pPr marL="457200" indent="-457200">
              <a:buAutoNum type="arabicPeriod"/>
            </a:pPr>
            <a:r>
              <a:rPr lang="en-US" sz="2400" dirty="0">
                <a:latin typeface="Times New Roman" panose="02020603050405020304" pitchFamily="18" charset="0"/>
                <a:cs typeface="Times New Roman" panose="02020603050405020304" pitchFamily="18" charset="0"/>
              </a:rPr>
              <a:t>Inefficient Comparison of Service Providers</a:t>
            </a:r>
            <a:endParaRPr lang="en-US" sz="2400" dirty="0" smtClean="0">
              <a:latin typeface="Times New Roman" panose="02020603050405020304" pitchFamily="18" charset="0"/>
              <a:cs typeface="Times New Roman" panose="02020603050405020304" pitchFamily="18" charset="0"/>
            </a:endParaRPr>
          </a:p>
          <a:p>
            <a:pPr marL="457200" indent="-457200">
              <a:buAutoNum type="arabicPeriod"/>
            </a:pPr>
            <a:endParaRPr lang="en-US" sz="24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Title 3"/>
          <p:cNvSpPr>
            <a:spLocks noGrp="1"/>
          </p:cNvSpPr>
          <p:nvPr>
            <p:ph type="title"/>
          </p:nvPr>
        </p:nvSpPr>
        <p:spPr>
          <a:xfrm>
            <a:off x="2592925" y="624110"/>
            <a:ext cx="8911687" cy="814546"/>
          </a:xfrm>
        </p:spPr>
        <p:txBody>
          <a:bodyPr/>
          <a:lstStyle/>
          <a:p>
            <a:r>
              <a:rPr lang="en-US" dirty="0" smtClean="0">
                <a:latin typeface="Times New Roman" panose="02020603050405020304" pitchFamily="18" charset="0"/>
                <a:cs typeface="Times New Roman" panose="02020603050405020304" pitchFamily="18" charset="0"/>
              </a:rPr>
              <a:t>PROJECT JUSTIFICATION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1639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LITERATURE REVIEW</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sz="2400" dirty="0">
                <a:latin typeface="Times New Roman" panose="02020603050405020304" pitchFamily="18" charset="0"/>
                <a:cs typeface="Times New Roman" panose="02020603050405020304" pitchFamily="18" charset="0"/>
              </a:rPr>
              <a:t>The beauty and personal care market is experiencing significant growth</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driven by consumer preferences and technological </a:t>
            </a:r>
            <a:r>
              <a:rPr lang="en-US" sz="2400" dirty="0" smtClean="0">
                <a:latin typeface="Times New Roman" panose="02020603050405020304" pitchFamily="18" charset="0"/>
                <a:cs typeface="Times New Roman" panose="02020603050405020304" pitchFamily="18" charset="0"/>
              </a:rPr>
              <a:t>advancements (</a:t>
            </a:r>
            <a:r>
              <a:rPr lang="en-US" sz="2400" dirty="0" smtClean="0"/>
              <a:t>Johnson</a:t>
            </a:r>
            <a:r>
              <a:rPr lang="en-US" sz="2400" dirty="0"/>
              <a:t>, M. A., &amp; Smith, K. B. </a:t>
            </a:r>
            <a:r>
              <a:rPr lang="en-US" sz="2400" dirty="0" smtClean="0"/>
              <a:t>2023)</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Statista highlights the rising demand for natural and organic products, while IBISWorld examines the US hair and nail salon market, emphasizing demographic and economic influences. Johnson and Smith discuss the benefits and challenges of location-based service (LBS) applications, which enhance convenience and offer personalized recommendations. Thompson and Wilson's development of a salon finder system using Visual Basic addresses the difficulty of locating nearby salons, showcasing its practical application and positive user feedback. Overall, the literature underscores the industry's efforts to improve accessibility and convenience through technological solutions.</a:t>
            </a:r>
          </a:p>
          <a:p>
            <a:pPr marL="0" indent="0">
              <a:buNone/>
            </a:pPr>
            <a:endParaRPr lang="en-US" dirty="0"/>
          </a:p>
          <a:p>
            <a:endParaRPr lang="en-US" dirty="0"/>
          </a:p>
        </p:txBody>
      </p:sp>
    </p:spTree>
    <p:extLst>
      <p:ext uri="{BB962C8B-B14F-4D97-AF65-F5344CB8AC3E}">
        <p14:creationId xmlns:p14="http://schemas.microsoft.com/office/powerpoint/2010/main" val="36481661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924274"/>
          </a:xfrm>
        </p:spPr>
        <p:txBody>
          <a:bodyPr/>
          <a:lstStyle/>
          <a:p>
            <a:r>
              <a:rPr lang="en-US" dirty="0" smtClean="0">
                <a:latin typeface="Times New Roman" panose="02020603050405020304" pitchFamily="18" charset="0"/>
                <a:cs typeface="Times New Roman" panose="02020603050405020304" pitchFamily="18" charset="0"/>
              </a:rPr>
              <a:t>DEVELOPMENT METHODOLOGY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548384"/>
            <a:ext cx="8915400" cy="5218176"/>
          </a:xfrm>
        </p:spPr>
        <p:txBody>
          <a:bodyPr>
            <a:normAutofit/>
          </a:bodyPr>
          <a:lstStyle/>
          <a:p>
            <a:r>
              <a:rPr lang="en-US" dirty="0">
                <a:latin typeface="Times New Roman" panose="02020603050405020304" pitchFamily="18" charset="0"/>
                <a:cs typeface="Times New Roman" panose="02020603050405020304" pitchFamily="18" charset="0"/>
              </a:rPr>
              <a:t>AGILE METHODOLOGY </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Sprints</a:t>
            </a:r>
            <a:r>
              <a:rPr lang="en-US" b="1"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Planning and Requirements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Database Design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UI Development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Core Features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Testing and Review</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Deployment</a:t>
            </a:r>
          </a:p>
          <a:p>
            <a:r>
              <a:rPr lang="en-US" b="1" dirty="0">
                <a:latin typeface="Times New Roman" panose="02020603050405020304" pitchFamily="18" charset="0"/>
                <a:cs typeface="Times New Roman" panose="02020603050405020304" pitchFamily="18" charset="0"/>
              </a:rPr>
              <a:t>Benefits</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Flexible development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Regular feedback</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Quick iterations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Risk management</a:t>
            </a:r>
          </a:p>
          <a:p>
            <a:endParaRPr lang="en-US" dirty="0"/>
          </a:p>
        </p:txBody>
      </p:sp>
    </p:spTree>
    <p:extLst>
      <p:ext uri="{BB962C8B-B14F-4D97-AF65-F5344CB8AC3E}">
        <p14:creationId xmlns:p14="http://schemas.microsoft.com/office/powerpoint/2010/main" val="29498106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51122"/>
          </a:xfrm>
        </p:spPr>
        <p:txBody>
          <a:bodyPr/>
          <a:lstStyle/>
          <a:p>
            <a:r>
              <a:rPr lang="en-US" dirty="0" smtClean="0">
                <a:latin typeface="Times New Roman" panose="02020603050405020304" pitchFamily="18" charset="0"/>
                <a:cs typeface="Times New Roman" panose="02020603050405020304" pitchFamily="18" charset="0"/>
              </a:rPr>
              <a:t>PROJECT RESOURCES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572768"/>
            <a:ext cx="8915400" cy="5096256"/>
          </a:xfrm>
        </p:spPr>
        <p:txBody>
          <a:bodyPr>
            <a:normAutofit fontScale="92500" lnSpcReduction="10000"/>
          </a:bodyPr>
          <a:lstStyle/>
          <a:p>
            <a:r>
              <a:rPr lang="en-US" sz="2200" b="1" dirty="0">
                <a:latin typeface="Times New Roman" panose="02020603050405020304" pitchFamily="18" charset="0"/>
                <a:cs typeface="Times New Roman" panose="02020603050405020304" pitchFamily="18" charset="0"/>
              </a:rPr>
              <a:t>Hardware: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Computer system</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Database server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Development machine</a:t>
            </a:r>
          </a:p>
          <a:p>
            <a:r>
              <a:rPr lang="en-US" sz="2200" b="1" dirty="0">
                <a:latin typeface="Times New Roman" panose="02020603050405020304" pitchFamily="18" charset="0"/>
                <a:cs typeface="Times New Roman" panose="02020603050405020304" pitchFamily="18" charset="0"/>
              </a:rPr>
              <a:t>Software: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Visual Studio</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Microsoft Access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Testing tools</a:t>
            </a:r>
          </a:p>
          <a:p>
            <a:r>
              <a:rPr lang="en-US" sz="2200" b="1" dirty="0">
                <a:latin typeface="Times New Roman" panose="02020603050405020304" pitchFamily="18" charset="0"/>
                <a:cs typeface="Times New Roman" panose="02020603050405020304" pitchFamily="18" charset="0"/>
              </a:rPr>
              <a:t>Human Resources:</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Developer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Tester</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Project supervisor</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13910696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38930"/>
          </a:xfrm>
        </p:spPr>
        <p:txBody>
          <a:bodyPr/>
          <a:lstStyle/>
          <a:p>
            <a:r>
              <a:rPr lang="en-US" dirty="0" smtClean="0">
                <a:latin typeface="Times New Roman" panose="02020603050405020304" pitchFamily="18" charset="0"/>
                <a:cs typeface="Times New Roman" panose="02020603050405020304" pitchFamily="18" charset="0"/>
              </a:rPr>
              <a:t>PROJECT BUDGET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609344"/>
            <a:ext cx="8915400" cy="4962144"/>
          </a:xfrm>
        </p:spPr>
        <p:txBody>
          <a:bodyPr>
            <a:normAutofit/>
          </a:bodyPr>
          <a:lstStyle/>
          <a:p>
            <a:r>
              <a:rPr lang="en-US" b="1" dirty="0">
                <a:latin typeface="Times New Roman" panose="02020603050405020304" pitchFamily="18" charset="0"/>
                <a:cs typeface="Times New Roman" panose="02020603050405020304" pitchFamily="18" charset="0"/>
              </a:rPr>
              <a:t>Development Costs: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Software </a:t>
            </a:r>
            <a:r>
              <a:rPr lang="en-US" dirty="0" smtClean="0">
                <a:latin typeface="Times New Roman" panose="02020603050405020304" pitchFamily="18" charset="0"/>
                <a:cs typeface="Times New Roman" panose="02020603050405020304" pitchFamily="18" charset="0"/>
              </a:rPr>
              <a:t>licenses; $200</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Hardware </a:t>
            </a:r>
            <a:r>
              <a:rPr lang="en-US" dirty="0" smtClean="0">
                <a:latin typeface="Times New Roman" panose="02020603050405020304" pitchFamily="18" charset="0"/>
                <a:cs typeface="Times New Roman" panose="02020603050405020304" pitchFamily="18" charset="0"/>
              </a:rPr>
              <a:t>requirements; $0</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Development </a:t>
            </a:r>
            <a:r>
              <a:rPr lang="en-US" dirty="0" smtClean="0">
                <a:latin typeface="Times New Roman" panose="02020603050405020304" pitchFamily="18" charset="0"/>
                <a:cs typeface="Times New Roman" panose="02020603050405020304" pitchFamily="18" charset="0"/>
              </a:rPr>
              <a:t>time; $0</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Testing </a:t>
            </a:r>
            <a:r>
              <a:rPr lang="en-US" dirty="0" smtClean="0">
                <a:latin typeface="Times New Roman" panose="02020603050405020304" pitchFamily="18" charset="0"/>
                <a:cs typeface="Times New Roman" panose="02020603050405020304" pitchFamily="18" charset="0"/>
              </a:rPr>
              <a:t>resources; $100</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Documentation; $50</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Operational Costs:</a:t>
            </a: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Maintenance; $100</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Updates; $50</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Training; $150</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774228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68242"/>
          </a:xfrm>
        </p:spPr>
        <p:txBody>
          <a:bodyPr/>
          <a:lstStyle/>
          <a:p>
            <a:r>
              <a:rPr lang="en-US" dirty="0" smtClean="0"/>
              <a:t>PROJECT SCHEDULE</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257093719"/>
              </p:ext>
            </p:extLst>
          </p:nvPr>
        </p:nvGraphicFramePr>
        <p:xfrm>
          <a:off x="2357565" y="1292352"/>
          <a:ext cx="8915400" cy="4851400"/>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479501139"/>
                    </a:ext>
                  </a:extLst>
                </a:gridCol>
                <a:gridCol w="1783080">
                  <a:extLst>
                    <a:ext uri="{9D8B030D-6E8A-4147-A177-3AD203B41FA5}">
                      <a16:colId xmlns:a16="http://schemas.microsoft.com/office/drawing/2014/main" val="2342681177"/>
                    </a:ext>
                  </a:extLst>
                </a:gridCol>
                <a:gridCol w="1783080">
                  <a:extLst>
                    <a:ext uri="{9D8B030D-6E8A-4147-A177-3AD203B41FA5}">
                      <a16:colId xmlns:a16="http://schemas.microsoft.com/office/drawing/2014/main" val="4126345478"/>
                    </a:ext>
                  </a:extLst>
                </a:gridCol>
                <a:gridCol w="1783080">
                  <a:extLst>
                    <a:ext uri="{9D8B030D-6E8A-4147-A177-3AD203B41FA5}">
                      <a16:colId xmlns:a16="http://schemas.microsoft.com/office/drawing/2014/main" val="1810489669"/>
                    </a:ext>
                  </a:extLst>
                </a:gridCol>
                <a:gridCol w="1783080">
                  <a:extLst>
                    <a:ext uri="{9D8B030D-6E8A-4147-A177-3AD203B41FA5}">
                      <a16:colId xmlns:a16="http://schemas.microsoft.com/office/drawing/2014/main" val="3927979491"/>
                    </a:ext>
                  </a:extLst>
                </a:gridCol>
              </a:tblGrid>
              <a:tr h="370840">
                <a:tc>
                  <a:txBody>
                    <a:bodyPr/>
                    <a:lstStyle/>
                    <a:p>
                      <a:r>
                        <a:rPr lang="en-US" dirty="0" smtClean="0"/>
                        <a:t>WEEK4</a:t>
                      </a:r>
                      <a:endParaRPr lang="en-US" dirty="0"/>
                    </a:p>
                  </a:txBody>
                  <a:tcPr/>
                </a:tc>
                <a:tc>
                  <a:txBody>
                    <a:bodyPr/>
                    <a:lstStyle/>
                    <a:p>
                      <a:r>
                        <a:rPr lang="en-US" dirty="0" smtClean="0"/>
                        <a:t>DAYS</a:t>
                      </a:r>
                      <a:endParaRPr lang="en-US" dirty="0"/>
                    </a:p>
                  </a:txBody>
                  <a:tcPr/>
                </a:tc>
                <a:tc>
                  <a:txBody>
                    <a:bodyPr/>
                    <a:lstStyle/>
                    <a:p>
                      <a:r>
                        <a:rPr lang="en-US" dirty="0" smtClean="0"/>
                        <a:t>PHASE</a:t>
                      </a:r>
                      <a:endParaRPr lang="en-US" dirty="0"/>
                    </a:p>
                  </a:txBody>
                  <a:tcPr/>
                </a:tc>
                <a:tc>
                  <a:txBody>
                    <a:bodyPr/>
                    <a:lstStyle/>
                    <a:p>
                      <a:r>
                        <a:rPr lang="en-US" dirty="0" smtClean="0"/>
                        <a:t>TASK</a:t>
                      </a:r>
                      <a:endParaRPr lang="en-US" dirty="0"/>
                    </a:p>
                  </a:txBody>
                  <a:tcPr/>
                </a:tc>
                <a:tc>
                  <a:txBody>
                    <a:bodyPr/>
                    <a:lstStyle/>
                    <a:p>
                      <a:r>
                        <a:rPr lang="en-US" dirty="0" smtClean="0"/>
                        <a:t>DELIVERABLE</a:t>
                      </a:r>
                      <a:endParaRPr lang="en-US" dirty="0"/>
                    </a:p>
                  </a:txBody>
                  <a:tcPr/>
                </a:tc>
                <a:extLst>
                  <a:ext uri="{0D108BD9-81ED-4DB2-BD59-A6C34878D82A}">
                    <a16:rowId xmlns:a16="http://schemas.microsoft.com/office/drawing/2014/main" val="4151611068"/>
                  </a:ext>
                </a:extLst>
              </a:tr>
              <a:tr h="370840">
                <a:tc>
                  <a:txBody>
                    <a:bodyPr/>
                    <a:lstStyle/>
                    <a:p>
                      <a:r>
                        <a:rPr lang="en-US" dirty="0" smtClean="0"/>
                        <a:t>Week</a:t>
                      </a:r>
                      <a:r>
                        <a:rPr lang="en-US" baseline="0" dirty="0" smtClean="0"/>
                        <a:t> 1</a:t>
                      </a:r>
                      <a:endParaRPr lang="en-US" dirty="0"/>
                    </a:p>
                  </a:txBody>
                  <a:tcPr/>
                </a:tc>
                <a:tc>
                  <a:txBody>
                    <a:bodyPr/>
                    <a:lstStyle/>
                    <a:p>
                      <a:r>
                        <a:rPr lang="en-US" dirty="0" smtClean="0"/>
                        <a:t>1-5</a:t>
                      </a:r>
                      <a:endParaRPr lang="en-US" dirty="0"/>
                    </a:p>
                  </a:txBody>
                  <a:tcPr/>
                </a:tc>
                <a:tc>
                  <a:txBody>
                    <a:bodyPr/>
                    <a:lstStyle/>
                    <a:p>
                      <a:r>
                        <a:rPr lang="en-US" dirty="0" smtClean="0"/>
                        <a:t>Project planning</a:t>
                      </a:r>
                      <a:endParaRPr lang="en-US" dirty="0"/>
                    </a:p>
                  </a:txBody>
                  <a:tcPr/>
                </a:tc>
                <a:tc>
                  <a:txBody>
                    <a:bodyPr/>
                    <a:lstStyle/>
                    <a:p>
                      <a:r>
                        <a:rPr lang="en-US" dirty="0" smtClean="0"/>
                        <a:t>Requirement gathering,</a:t>
                      </a:r>
                      <a:r>
                        <a:rPr lang="en-US" baseline="0" dirty="0" smtClean="0"/>
                        <a:t> project scope definition</a:t>
                      </a:r>
                      <a:endParaRPr lang="en-US" dirty="0"/>
                    </a:p>
                  </a:txBody>
                  <a:tcPr/>
                </a:tc>
                <a:tc>
                  <a:txBody>
                    <a:bodyPr/>
                    <a:lstStyle/>
                    <a:p>
                      <a:r>
                        <a:rPr lang="en-US" dirty="0" smtClean="0"/>
                        <a:t>Project plan document</a:t>
                      </a:r>
                      <a:endParaRPr lang="en-US" dirty="0"/>
                    </a:p>
                  </a:txBody>
                  <a:tcPr/>
                </a:tc>
                <a:extLst>
                  <a:ext uri="{0D108BD9-81ED-4DB2-BD59-A6C34878D82A}">
                    <a16:rowId xmlns:a16="http://schemas.microsoft.com/office/drawing/2014/main" val="2921963872"/>
                  </a:ext>
                </a:extLst>
              </a:tr>
              <a:tr h="370840">
                <a:tc>
                  <a:txBody>
                    <a:bodyPr/>
                    <a:lstStyle/>
                    <a:p>
                      <a:r>
                        <a:rPr lang="en-US" dirty="0" smtClean="0"/>
                        <a:t>Week 2</a:t>
                      </a:r>
                      <a:endParaRPr lang="en-US" dirty="0"/>
                    </a:p>
                  </a:txBody>
                  <a:tcPr/>
                </a:tc>
                <a:tc>
                  <a:txBody>
                    <a:bodyPr/>
                    <a:lstStyle/>
                    <a:p>
                      <a:r>
                        <a:rPr lang="en-US" dirty="0" smtClean="0"/>
                        <a:t>6-10</a:t>
                      </a:r>
                      <a:endParaRPr lang="en-US" dirty="0"/>
                    </a:p>
                  </a:txBody>
                  <a:tcPr/>
                </a:tc>
                <a:tc>
                  <a:txBody>
                    <a:bodyPr/>
                    <a:lstStyle/>
                    <a:p>
                      <a:r>
                        <a:rPr lang="en-US" dirty="0" smtClean="0"/>
                        <a:t>Analysis phase</a:t>
                      </a:r>
                      <a:endParaRPr lang="en-US" dirty="0"/>
                    </a:p>
                  </a:txBody>
                  <a:tcPr/>
                </a:tc>
                <a:tc>
                  <a:txBody>
                    <a:bodyPr/>
                    <a:lstStyle/>
                    <a:p>
                      <a:r>
                        <a:rPr lang="en-US" dirty="0" smtClean="0"/>
                        <a:t>User requirement analysis,</a:t>
                      </a:r>
                      <a:r>
                        <a:rPr lang="en-US" baseline="0" dirty="0" smtClean="0"/>
                        <a:t> </a:t>
                      </a:r>
                      <a:r>
                        <a:rPr lang="en-US" dirty="0" smtClean="0"/>
                        <a:t>system</a:t>
                      </a:r>
                      <a:r>
                        <a:rPr lang="en-US" baseline="0" dirty="0" smtClean="0"/>
                        <a:t> requirement </a:t>
                      </a:r>
                      <a:endParaRPr lang="en-US" dirty="0"/>
                    </a:p>
                  </a:txBody>
                  <a:tcPr/>
                </a:tc>
                <a:tc>
                  <a:txBody>
                    <a:bodyPr/>
                    <a:lstStyle/>
                    <a:p>
                      <a:r>
                        <a:rPr lang="en-US" dirty="0" smtClean="0"/>
                        <a:t>Requirement documentation</a:t>
                      </a:r>
                      <a:endParaRPr lang="en-US" dirty="0"/>
                    </a:p>
                  </a:txBody>
                  <a:tcPr/>
                </a:tc>
                <a:extLst>
                  <a:ext uri="{0D108BD9-81ED-4DB2-BD59-A6C34878D82A}">
                    <a16:rowId xmlns:a16="http://schemas.microsoft.com/office/drawing/2014/main" val="2766029542"/>
                  </a:ext>
                </a:extLst>
              </a:tr>
              <a:tr h="370840">
                <a:tc>
                  <a:txBody>
                    <a:bodyPr/>
                    <a:lstStyle/>
                    <a:p>
                      <a:r>
                        <a:rPr lang="en-US" dirty="0" smtClean="0"/>
                        <a:t>Week</a:t>
                      </a:r>
                      <a:r>
                        <a:rPr lang="en-US" baseline="0" dirty="0" smtClean="0"/>
                        <a:t> 3</a:t>
                      </a:r>
                      <a:endParaRPr lang="en-US" dirty="0"/>
                    </a:p>
                  </a:txBody>
                  <a:tcPr/>
                </a:tc>
                <a:tc>
                  <a:txBody>
                    <a:bodyPr/>
                    <a:lstStyle/>
                    <a:p>
                      <a:r>
                        <a:rPr lang="en-US" dirty="0" smtClean="0"/>
                        <a:t>11-15</a:t>
                      </a:r>
                      <a:endParaRPr lang="en-US" dirty="0"/>
                    </a:p>
                  </a:txBody>
                  <a:tcPr/>
                </a:tc>
                <a:tc>
                  <a:txBody>
                    <a:bodyPr/>
                    <a:lstStyle/>
                    <a:p>
                      <a:r>
                        <a:rPr lang="en-US" dirty="0" smtClean="0"/>
                        <a:t>Database design</a:t>
                      </a:r>
                      <a:endParaRPr lang="en-US" dirty="0"/>
                    </a:p>
                  </a:txBody>
                  <a:tcPr/>
                </a:tc>
                <a:tc>
                  <a:txBody>
                    <a:bodyPr/>
                    <a:lstStyle/>
                    <a:p>
                      <a:r>
                        <a:rPr lang="en-US" dirty="0" smtClean="0"/>
                        <a:t>Database design,</a:t>
                      </a:r>
                      <a:r>
                        <a:rPr lang="en-US" baseline="0" dirty="0" smtClean="0"/>
                        <a:t> table relationships </a:t>
                      </a:r>
                      <a:endParaRPr lang="en-US" dirty="0"/>
                    </a:p>
                  </a:txBody>
                  <a:tcPr/>
                </a:tc>
                <a:tc>
                  <a:txBody>
                    <a:bodyPr/>
                    <a:lstStyle/>
                    <a:p>
                      <a:r>
                        <a:rPr lang="en-US" dirty="0" smtClean="0"/>
                        <a:t>Database</a:t>
                      </a:r>
                      <a:r>
                        <a:rPr lang="en-US" baseline="0" dirty="0" smtClean="0"/>
                        <a:t> design document</a:t>
                      </a:r>
                      <a:endParaRPr lang="en-US" dirty="0"/>
                    </a:p>
                  </a:txBody>
                  <a:tcPr/>
                </a:tc>
                <a:extLst>
                  <a:ext uri="{0D108BD9-81ED-4DB2-BD59-A6C34878D82A}">
                    <a16:rowId xmlns:a16="http://schemas.microsoft.com/office/drawing/2014/main" val="2010094237"/>
                  </a:ext>
                </a:extLst>
              </a:tr>
              <a:tr h="370840">
                <a:tc>
                  <a:txBody>
                    <a:bodyPr/>
                    <a:lstStyle/>
                    <a:p>
                      <a:r>
                        <a:rPr lang="en-US" dirty="0" smtClean="0"/>
                        <a:t>Week 4</a:t>
                      </a:r>
                      <a:endParaRPr lang="en-US" dirty="0"/>
                    </a:p>
                  </a:txBody>
                  <a:tcPr/>
                </a:tc>
                <a:tc>
                  <a:txBody>
                    <a:bodyPr/>
                    <a:lstStyle/>
                    <a:p>
                      <a:r>
                        <a:rPr lang="en-US" dirty="0" smtClean="0"/>
                        <a:t>16-20</a:t>
                      </a:r>
                      <a:endParaRPr lang="en-US" dirty="0"/>
                    </a:p>
                  </a:txBody>
                  <a:tcPr/>
                </a:tc>
                <a:tc>
                  <a:txBody>
                    <a:bodyPr/>
                    <a:lstStyle/>
                    <a:p>
                      <a:r>
                        <a:rPr lang="en-US" dirty="0" smtClean="0"/>
                        <a:t>User interface design</a:t>
                      </a:r>
                      <a:endParaRPr lang="en-US" dirty="0"/>
                    </a:p>
                  </a:txBody>
                  <a:tcPr/>
                </a:tc>
                <a:tc>
                  <a:txBody>
                    <a:bodyPr/>
                    <a:lstStyle/>
                    <a:p>
                      <a:r>
                        <a:rPr lang="en-US" dirty="0" smtClean="0"/>
                        <a:t>UI</a:t>
                      </a:r>
                      <a:r>
                        <a:rPr lang="en-US" baseline="0" dirty="0" smtClean="0"/>
                        <a:t> mockups interface design</a:t>
                      </a:r>
                      <a:endParaRPr lang="en-US" dirty="0"/>
                    </a:p>
                  </a:txBody>
                  <a:tcPr/>
                </a:tc>
                <a:tc>
                  <a:txBody>
                    <a:bodyPr/>
                    <a:lstStyle/>
                    <a:p>
                      <a:r>
                        <a:rPr lang="en-US" dirty="0" smtClean="0"/>
                        <a:t>UI</a:t>
                      </a:r>
                      <a:r>
                        <a:rPr lang="en-US" baseline="0" dirty="0" smtClean="0"/>
                        <a:t> design prototype</a:t>
                      </a:r>
                      <a:endParaRPr lang="en-US" dirty="0"/>
                    </a:p>
                  </a:txBody>
                  <a:tcPr/>
                </a:tc>
                <a:extLst>
                  <a:ext uri="{0D108BD9-81ED-4DB2-BD59-A6C34878D82A}">
                    <a16:rowId xmlns:a16="http://schemas.microsoft.com/office/drawing/2014/main" val="479493629"/>
                  </a:ext>
                </a:extLst>
              </a:tr>
            </a:tbl>
          </a:graphicData>
        </a:graphic>
      </p:graphicFrame>
    </p:spTree>
    <p:extLst>
      <p:ext uri="{BB962C8B-B14F-4D97-AF65-F5344CB8AC3E}">
        <p14:creationId xmlns:p14="http://schemas.microsoft.com/office/powerpoint/2010/main" val="42642496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9566" y="160647"/>
            <a:ext cx="8911687" cy="83193"/>
          </a:xfrm>
        </p:spPr>
        <p:txBody>
          <a:bodyPr>
            <a:normAutofit fontScale="90000"/>
          </a:bodyPr>
          <a:lstStyle/>
          <a:p>
            <a:r>
              <a:rPr lang="en-US" dirty="0" err="1" smtClean="0">
                <a:latin typeface="Times New Roman" panose="02020603050405020304" pitchFamily="18" charset="0"/>
                <a:cs typeface="Times New Roman" panose="02020603050405020304" pitchFamily="18" charset="0"/>
              </a:rPr>
              <a:t>conti</a:t>
            </a:r>
            <a:endParaRPr lang="en-US"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86670660"/>
              </p:ext>
            </p:extLst>
          </p:nvPr>
        </p:nvGraphicFramePr>
        <p:xfrm>
          <a:off x="2541780" y="597408"/>
          <a:ext cx="9012935" cy="6638877"/>
        </p:xfrm>
        <a:graphic>
          <a:graphicData uri="http://schemas.openxmlformats.org/drawingml/2006/table">
            <a:tbl>
              <a:tblPr firstRow="1" bandRow="1">
                <a:tableStyleId>{5C22544A-7EE6-4342-B048-85BDC9FD1C3A}</a:tableStyleId>
              </a:tblPr>
              <a:tblGrid>
                <a:gridCol w="1802587">
                  <a:extLst>
                    <a:ext uri="{9D8B030D-6E8A-4147-A177-3AD203B41FA5}">
                      <a16:colId xmlns:a16="http://schemas.microsoft.com/office/drawing/2014/main" val="3173658398"/>
                    </a:ext>
                  </a:extLst>
                </a:gridCol>
                <a:gridCol w="1802587">
                  <a:extLst>
                    <a:ext uri="{9D8B030D-6E8A-4147-A177-3AD203B41FA5}">
                      <a16:colId xmlns:a16="http://schemas.microsoft.com/office/drawing/2014/main" val="2111777606"/>
                    </a:ext>
                  </a:extLst>
                </a:gridCol>
                <a:gridCol w="1802587">
                  <a:extLst>
                    <a:ext uri="{9D8B030D-6E8A-4147-A177-3AD203B41FA5}">
                      <a16:colId xmlns:a16="http://schemas.microsoft.com/office/drawing/2014/main" val="2687591635"/>
                    </a:ext>
                  </a:extLst>
                </a:gridCol>
                <a:gridCol w="1802587">
                  <a:extLst>
                    <a:ext uri="{9D8B030D-6E8A-4147-A177-3AD203B41FA5}">
                      <a16:colId xmlns:a16="http://schemas.microsoft.com/office/drawing/2014/main" val="420692940"/>
                    </a:ext>
                  </a:extLst>
                </a:gridCol>
                <a:gridCol w="1802587">
                  <a:extLst>
                    <a:ext uri="{9D8B030D-6E8A-4147-A177-3AD203B41FA5}">
                      <a16:colId xmlns:a16="http://schemas.microsoft.com/office/drawing/2014/main" val="97671447"/>
                    </a:ext>
                  </a:extLst>
                </a:gridCol>
              </a:tblGrid>
              <a:tr h="419318">
                <a:tc>
                  <a:txBody>
                    <a:bodyPr/>
                    <a:lstStyle/>
                    <a:p>
                      <a:r>
                        <a:rPr lang="en-US" dirty="0" smtClean="0"/>
                        <a:t>WEEKS</a:t>
                      </a:r>
                      <a:endParaRPr lang="en-US" dirty="0"/>
                    </a:p>
                  </a:txBody>
                  <a:tcPr/>
                </a:tc>
                <a:tc>
                  <a:txBody>
                    <a:bodyPr/>
                    <a:lstStyle/>
                    <a:p>
                      <a:r>
                        <a:rPr lang="en-US" dirty="0" smtClean="0"/>
                        <a:t>DAYS</a:t>
                      </a:r>
                      <a:endParaRPr lang="en-US" dirty="0"/>
                    </a:p>
                  </a:txBody>
                  <a:tcPr/>
                </a:tc>
                <a:tc>
                  <a:txBody>
                    <a:bodyPr/>
                    <a:lstStyle/>
                    <a:p>
                      <a:r>
                        <a:rPr lang="en-US" dirty="0" smtClean="0"/>
                        <a:t>PHASE</a:t>
                      </a:r>
                      <a:endParaRPr lang="en-US" dirty="0"/>
                    </a:p>
                  </a:txBody>
                  <a:tcPr/>
                </a:tc>
                <a:tc>
                  <a:txBody>
                    <a:bodyPr/>
                    <a:lstStyle/>
                    <a:p>
                      <a:r>
                        <a:rPr lang="en-US" dirty="0" smtClean="0"/>
                        <a:t>TASKS</a:t>
                      </a:r>
                      <a:endParaRPr lang="en-US" dirty="0"/>
                    </a:p>
                  </a:txBody>
                  <a:tcPr/>
                </a:tc>
                <a:tc>
                  <a:txBody>
                    <a:bodyPr/>
                    <a:lstStyle/>
                    <a:p>
                      <a:r>
                        <a:rPr lang="en-US" dirty="0" smtClean="0"/>
                        <a:t>DELIVERABLES</a:t>
                      </a:r>
                      <a:endParaRPr lang="en-US" dirty="0"/>
                    </a:p>
                  </a:txBody>
                  <a:tcPr/>
                </a:tc>
                <a:extLst>
                  <a:ext uri="{0D108BD9-81ED-4DB2-BD59-A6C34878D82A}">
                    <a16:rowId xmlns:a16="http://schemas.microsoft.com/office/drawing/2014/main" val="1475929047"/>
                  </a:ext>
                </a:extLst>
              </a:tr>
              <a:tr h="1818025">
                <a:tc>
                  <a:txBody>
                    <a:bodyPr/>
                    <a:lstStyle/>
                    <a:p>
                      <a:r>
                        <a:rPr lang="en-US" dirty="0" smtClean="0"/>
                        <a:t>Week 5-6</a:t>
                      </a:r>
                      <a:endParaRPr lang="en-US" dirty="0"/>
                    </a:p>
                  </a:txBody>
                  <a:tcPr/>
                </a:tc>
                <a:tc>
                  <a:txBody>
                    <a:bodyPr/>
                    <a:lstStyle/>
                    <a:p>
                      <a:r>
                        <a:rPr lang="en-US" dirty="0" smtClean="0"/>
                        <a:t>21-30</a:t>
                      </a:r>
                      <a:endParaRPr lang="en-US" dirty="0"/>
                    </a:p>
                  </a:txBody>
                  <a:tcPr/>
                </a:tc>
                <a:tc>
                  <a:txBody>
                    <a:bodyPr/>
                    <a:lstStyle/>
                    <a:p>
                      <a:r>
                        <a:rPr lang="en-US" dirty="0" smtClean="0"/>
                        <a:t>Core development</a:t>
                      </a:r>
                      <a:endParaRPr lang="en-US" dirty="0"/>
                    </a:p>
                  </a:txBody>
                  <a:tcPr/>
                </a:tc>
                <a:tc>
                  <a:txBody>
                    <a:bodyPr/>
                    <a:lstStyle/>
                    <a:p>
                      <a:r>
                        <a:rPr lang="en-US" dirty="0" smtClean="0"/>
                        <a:t>Core functionality coding, database</a:t>
                      </a:r>
                      <a:r>
                        <a:rPr lang="en-US" baseline="0" dirty="0" smtClean="0"/>
                        <a:t> implementation</a:t>
                      </a:r>
                      <a:endParaRPr lang="en-US" dirty="0"/>
                    </a:p>
                  </a:txBody>
                  <a:tcPr/>
                </a:tc>
                <a:tc>
                  <a:txBody>
                    <a:bodyPr/>
                    <a:lstStyle/>
                    <a:p>
                      <a:r>
                        <a:rPr lang="en-US" dirty="0" smtClean="0"/>
                        <a:t>Basic</a:t>
                      </a:r>
                      <a:r>
                        <a:rPr lang="en-US" baseline="0" dirty="0" smtClean="0"/>
                        <a:t> working system</a:t>
                      </a:r>
                      <a:endParaRPr lang="en-US" dirty="0"/>
                    </a:p>
                  </a:txBody>
                  <a:tcPr/>
                </a:tc>
                <a:extLst>
                  <a:ext uri="{0D108BD9-81ED-4DB2-BD59-A6C34878D82A}">
                    <a16:rowId xmlns:a16="http://schemas.microsoft.com/office/drawing/2014/main" val="2776625634"/>
                  </a:ext>
                </a:extLst>
              </a:tr>
              <a:tr h="956855">
                <a:tc>
                  <a:txBody>
                    <a:bodyPr/>
                    <a:lstStyle/>
                    <a:p>
                      <a:r>
                        <a:rPr lang="en-US" dirty="0" smtClean="0"/>
                        <a:t>Week</a:t>
                      </a:r>
                      <a:r>
                        <a:rPr lang="en-US" baseline="0" dirty="0" smtClean="0"/>
                        <a:t> 7</a:t>
                      </a:r>
                      <a:endParaRPr lang="en-US" dirty="0"/>
                    </a:p>
                  </a:txBody>
                  <a:tcPr/>
                </a:tc>
                <a:tc>
                  <a:txBody>
                    <a:bodyPr/>
                    <a:lstStyle/>
                    <a:p>
                      <a:r>
                        <a:rPr lang="en-US" dirty="0" smtClean="0"/>
                        <a:t>31-35</a:t>
                      </a:r>
                      <a:endParaRPr lang="en-US" dirty="0"/>
                    </a:p>
                  </a:txBody>
                  <a:tcPr/>
                </a:tc>
                <a:tc>
                  <a:txBody>
                    <a:bodyPr/>
                    <a:lstStyle/>
                    <a:p>
                      <a:r>
                        <a:rPr lang="en-US" dirty="0" smtClean="0"/>
                        <a:t>Feature development</a:t>
                      </a:r>
                      <a:endParaRPr lang="en-US" dirty="0"/>
                    </a:p>
                  </a:txBody>
                  <a:tcPr/>
                </a:tc>
                <a:tc>
                  <a:txBody>
                    <a:bodyPr/>
                    <a:lstStyle/>
                    <a:p>
                      <a:r>
                        <a:rPr lang="en-US" dirty="0" smtClean="0"/>
                        <a:t>Search functionality </a:t>
                      </a:r>
                      <a:endParaRPr lang="en-US" dirty="0"/>
                    </a:p>
                  </a:txBody>
                  <a:tcPr/>
                </a:tc>
                <a:tc>
                  <a:txBody>
                    <a:bodyPr/>
                    <a:lstStyle/>
                    <a:p>
                      <a:r>
                        <a:rPr lang="en-US" dirty="0" smtClean="0"/>
                        <a:t>Complete</a:t>
                      </a:r>
                      <a:r>
                        <a:rPr lang="en-US" baseline="0" dirty="0" smtClean="0"/>
                        <a:t> system features</a:t>
                      </a:r>
                      <a:endParaRPr lang="en-US" dirty="0"/>
                    </a:p>
                  </a:txBody>
                  <a:tcPr/>
                </a:tc>
                <a:extLst>
                  <a:ext uri="{0D108BD9-81ED-4DB2-BD59-A6C34878D82A}">
                    <a16:rowId xmlns:a16="http://schemas.microsoft.com/office/drawing/2014/main" val="895571325"/>
                  </a:ext>
                </a:extLst>
              </a:tr>
              <a:tr h="669799">
                <a:tc>
                  <a:txBody>
                    <a:bodyPr/>
                    <a:lstStyle/>
                    <a:p>
                      <a:r>
                        <a:rPr lang="en-US" dirty="0" smtClean="0"/>
                        <a:t>Week 8</a:t>
                      </a:r>
                      <a:endParaRPr lang="en-US" dirty="0"/>
                    </a:p>
                  </a:txBody>
                  <a:tcPr/>
                </a:tc>
                <a:tc>
                  <a:txBody>
                    <a:bodyPr/>
                    <a:lstStyle/>
                    <a:p>
                      <a:r>
                        <a:rPr lang="en-US" dirty="0" smtClean="0"/>
                        <a:t>36-40</a:t>
                      </a:r>
                      <a:endParaRPr lang="en-US" dirty="0"/>
                    </a:p>
                  </a:txBody>
                  <a:tcPr/>
                </a:tc>
                <a:tc>
                  <a:txBody>
                    <a:bodyPr/>
                    <a:lstStyle/>
                    <a:p>
                      <a:r>
                        <a:rPr lang="en-US" dirty="0" smtClean="0"/>
                        <a:t>Testing phase</a:t>
                      </a:r>
                      <a:endParaRPr lang="en-US" dirty="0"/>
                    </a:p>
                  </a:txBody>
                  <a:tcPr/>
                </a:tc>
                <a:tc>
                  <a:txBody>
                    <a:bodyPr/>
                    <a:lstStyle/>
                    <a:p>
                      <a:r>
                        <a:rPr lang="en-US" dirty="0" smtClean="0"/>
                        <a:t>Unit testing, </a:t>
                      </a:r>
                      <a:endParaRPr lang="en-US" baseline="0" dirty="0" smtClean="0"/>
                    </a:p>
                    <a:p>
                      <a:r>
                        <a:rPr lang="en-US" baseline="0" dirty="0" smtClean="0"/>
                        <a:t>Bug fixing</a:t>
                      </a:r>
                      <a:endParaRPr lang="en-US" dirty="0"/>
                    </a:p>
                  </a:txBody>
                  <a:tcPr/>
                </a:tc>
                <a:tc>
                  <a:txBody>
                    <a:bodyPr/>
                    <a:lstStyle/>
                    <a:p>
                      <a:r>
                        <a:rPr lang="en-US" dirty="0" smtClean="0"/>
                        <a:t>Test results document </a:t>
                      </a:r>
                      <a:endParaRPr lang="en-US" dirty="0"/>
                    </a:p>
                  </a:txBody>
                  <a:tcPr/>
                </a:tc>
                <a:extLst>
                  <a:ext uri="{0D108BD9-81ED-4DB2-BD59-A6C34878D82A}">
                    <a16:rowId xmlns:a16="http://schemas.microsoft.com/office/drawing/2014/main" val="3750754118"/>
                  </a:ext>
                </a:extLst>
              </a:tr>
              <a:tr h="1530968">
                <a:tc>
                  <a:txBody>
                    <a:bodyPr/>
                    <a:lstStyle/>
                    <a:p>
                      <a:r>
                        <a:rPr lang="en-US" dirty="0" smtClean="0"/>
                        <a:t>Week</a:t>
                      </a:r>
                      <a:r>
                        <a:rPr lang="en-US" baseline="0" dirty="0" smtClean="0"/>
                        <a:t> 9</a:t>
                      </a:r>
                      <a:endParaRPr lang="en-US" dirty="0"/>
                    </a:p>
                  </a:txBody>
                  <a:tcPr/>
                </a:tc>
                <a:tc>
                  <a:txBody>
                    <a:bodyPr/>
                    <a:lstStyle/>
                    <a:p>
                      <a:r>
                        <a:rPr lang="en-US" dirty="0" smtClean="0"/>
                        <a:t>41-45</a:t>
                      </a:r>
                      <a:endParaRPr lang="en-US" dirty="0"/>
                    </a:p>
                  </a:txBody>
                  <a:tcPr/>
                </a:tc>
                <a:tc>
                  <a:txBody>
                    <a:bodyPr/>
                    <a:lstStyle/>
                    <a:p>
                      <a:r>
                        <a:rPr lang="en-US" dirty="0" smtClean="0"/>
                        <a:t>System integration and testing</a:t>
                      </a:r>
                      <a:endParaRPr lang="en-US" dirty="0"/>
                    </a:p>
                  </a:txBody>
                  <a:tcPr/>
                </a:tc>
                <a:tc>
                  <a:txBody>
                    <a:bodyPr/>
                    <a:lstStyle/>
                    <a:p>
                      <a:r>
                        <a:rPr lang="en-US" dirty="0" smtClean="0"/>
                        <a:t>User acceptance</a:t>
                      </a:r>
                      <a:r>
                        <a:rPr lang="en-US" baseline="0" dirty="0" smtClean="0"/>
                        <a:t> testing</a:t>
                      </a:r>
                      <a:br>
                        <a:rPr lang="en-US" baseline="0" dirty="0" smtClean="0"/>
                      </a:br>
                      <a:r>
                        <a:rPr lang="en-US" baseline="0" dirty="0" smtClean="0"/>
                        <a:t>final adjustments</a:t>
                      </a:r>
                      <a:endParaRPr lang="en-US" dirty="0"/>
                    </a:p>
                  </a:txBody>
                  <a:tcPr/>
                </a:tc>
                <a:tc>
                  <a:txBody>
                    <a:bodyPr/>
                    <a:lstStyle/>
                    <a:p>
                      <a:r>
                        <a:rPr lang="en-US" dirty="0" smtClean="0"/>
                        <a:t>Test completion report</a:t>
                      </a:r>
                      <a:endParaRPr lang="en-US" dirty="0"/>
                    </a:p>
                  </a:txBody>
                  <a:tcPr/>
                </a:tc>
                <a:extLst>
                  <a:ext uri="{0D108BD9-81ED-4DB2-BD59-A6C34878D82A}">
                    <a16:rowId xmlns:a16="http://schemas.microsoft.com/office/drawing/2014/main" val="2860755439"/>
                  </a:ext>
                </a:extLst>
              </a:tr>
              <a:tr h="1243912">
                <a:tc>
                  <a:txBody>
                    <a:bodyPr/>
                    <a:lstStyle/>
                    <a:p>
                      <a:r>
                        <a:rPr lang="en-US" dirty="0" smtClean="0"/>
                        <a:t>Week 10</a:t>
                      </a:r>
                      <a:endParaRPr lang="en-US" dirty="0"/>
                    </a:p>
                  </a:txBody>
                  <a:tcPr/>
                </a:tc>
                <a:tc>
                  <a:txBody>
                    <a:bodyPr/>
                    <a:lstStyle/>
                    <a:p>
                      <a:r>
                        <a:rPr lang="en-US" dirty="0" smtClean="0"/>
                        <a:t>46-50</a:t>
                      </a:r>
                      <a:endParaRPr lang="en-US" dirty="0"/>
                    </a:p>
                  </a:txBody>
                  <a:tcPr/>
                </a:tc>
                <a:tc>
                  <a:txBody>
                    <a:bodyPr/>
                    <a:lstStyle/>
                    <a:p>
                      <a:r>
                        <a:rPr lang="en-US" dirty="0" smtClean="0"/>
                        <a:t>Deployment</a:t>
                      </a:r>
                      <a:r>
                        <a:rPr lang="en-US" baseline="0" dirty="0" smtClean="0"/>
                        <a:t> and documentation</a:t>
                      </a:r>
                      <a:endParaRPr lang="en-US" dirty="0"/>
                    </a:p>
                  </a:txBody>
                  <a:tcPr/>
                </a:tc>
                <a:tc>
                  <a:txBody>
                    <a:bodyPr/>
                    <a:lstStyle/>
                    <a:p>
                      <a:r>
                        <a:rPr lang="en-US" dirty="0" smtClean="0"/>
                        <a:t>System deployment,</a:t>
                      </a:r>
                      <a:r>
                        <a:rPr lang="en-US" baseline="0" dirty="0" smtClean="0"/>
                        <a:t> project handover</a:t>
                      </a:r>
                      <a:endParaRPr lang="en-US" dirty="0"/>
                    </a:p>
                  </a:txBody>
                  <a:tcPr/>
                </a:tc>
                <a:tc>
                  <a:txBody>
                    <a:bodyPr/>
                    <a:lstStyle/>
                    <a:p>
                      <a:r>
                        <a:rPr lang="en-US" dirty="0" smtClean="0"/>
                        <a:t>Final</a:t>
                      </a:r>
                      <a:r>
                        <a:rPr lang="en-US" baseline="0" dirty="0" smtClean="0"/>
                        <a:t> system and documentation</a:t>
                      </a:r>
                      <a:endParaRPr lang="en-US" dirty="0"/>
                    </a:p>
                  </a:txBody>
                  <a:tcPr/>
                </a:tc>
                <a:extLst>
                  <a:ext uri="{0D108BD9-81ED-4DB2-BD59-A6C34878D82A}">
                    <a16:rowId xmlns:a16="http://schemas.microsoft.com/office/drawing/2014/main" val="187380166"/>
                  </a:ext>
                </a:extLst>
              </a:tr>
            </a:tbl>
          </a:graphicData>
        </a:graphic>
      </p:graphicFrame>
    </p:spTree>
    <p:extLst>
      <p:ext uri="{BB962C8B-B14F-4D97-AF65-F5344CB8AC3E}">
        <p14:creationId xmlns:p14="http://schemas.microsoft.com/office/powerpoint/2010/main" val="23436304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PROJECT GANTT CHART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400" b="1" dirty="0">
                <a:latin typeface="Times New Roman" panose="02020603050405020304" pitchFamily="18" charset="0"/>
                <a:cs typeface="Times New Roman" panose="02020603050405020304" pitchFamily="18" charset="0"/>
              </a:rPr>
              <a:t>Visual Gantt chart showing</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Tasks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Dependencies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Milestones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Resources</a:t>
            </a:r>
          </a:p>
          <a:p>
            <a:endParaRPr lang="en-US" dirty="0"/>
          </a:p>
        </p:txBody>
      </p:sp>
    </p:spTree>
    <p:extLst>
      <p:ext uri="{BB962C8B-B14F-4D97-AF65-F5344CB8AC3E}">
        <p14:creationId xmlns:p14="http://schemas.microsoft.com/office/powerpoint/2010/main" val="31309951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948658"/>
          </a:xfrm>
        </p:spPr>
        <p:txBody>
          <a:bodyPr/>
          <a:lstStyle/>
          <a:p>
            <a:r>
              <a:rPr lang="en-US" dirty="0" smtClean="0">
                <a:latin typeface="Times New Roman" panose="02020603050405020304" pitchFamily="18" charset="0"/>
                <a:cs typeface="Times New Roman" panose="02020603050405020304" pitchFamily="18" charset="0"/>
              </a:rPr>
              <a:t>PROJECT RISKS AND MITIGATION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572768"/>
            <a:ext cx="8915400" cy="4913376"/>
          </a:xfrm>
        </p:spPr>
        <p:txBody>
          <a:bodyPr>
            <a:noAutofit/>
          </a:bodyPr>
          <a:lstStyle/>
          <a:p>
            <a:r>
              <a:rPr lang="en-US" sz="2400" dirty="0">
                <a:latin typeface="Times New Roman" panose="02020603050405020304" pitchFamily="18" charset="0"/>
                <a:cs typeface="Times New Roman" panose="02020603050405020304" pitchFamily="18" charset="0"/>
              </a:rPr>
              <a:t>RISKS AND MITIGATION </a:t>
            </a:r>
            <a:endParaRPr lang="en-US" sz="2400"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Technical </a:t>
            </a:r>
            <a:r>
              <a:rPr lang="en-US" sz="2400" b="1" dirty="0">
                <a:latin typeface="Times New Roman" panose="02020603050405020304" pitchFamily="18" charset="0"/>
                <a:cs typeface="Times New Roman" panose="02020603050405020304" pitchFamily="18" charset="0"/>
              </a:rPr>
              <a:t>Risks: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Database </a:t>
            </a:r>
            <a:r>
              <a:rPr lang="en-US" sz="2400" dirty="0" smtClean="0">
                <a:latin typeface="Times New Roman" panose="02020603050405020304" pitchFamily="18" charset="0"/>
                <a:cs typeface="Times New Roman" panose="02020603050405020304" pitchFamily="18" charset="0"/>
              </a:rPr>
              <a:t>performance challenges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System compatibility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a:t>
            </a:r>
            <a:r>
              <a:rPr lang="en-US" sz="2400" dirty="0" smtClean="0">
                <a:latin typeface="Times New Roman" panose="02020603050405020304" pitchFamily="18" charset="0"/>
                <a:cs typeface="Times New Roman" panose="02020603050405020304" pitchFamily="18" charset="0"/>
              </a:rPr>
              <a:t>insecurity</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Mitigation Strategies</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Regular testing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Backup systems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Security protocols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Contingency planning</a:t>
            </a:r>
          </a:p>
          <a:p>
            <a:endParaRPr lang="en-US" sz="2400" dirty="0"/>
          </a:p>
        </p:txBody>
      </p:sp>
    </p:spTree>
    <p:extLst>
      <p:ext uri="{BB962C8B-B14F-4D97-AF65-F5344CB8AC3E}">
        <p14:creationId xmlns:p14="http://schemas.microsoft.com/office/powerpoint/2010/main" val="12197531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41394"/>
          </a:xfrm>
        </p:spPr>
        <p:txBody>
          <a:bodyPr/>
          <a:lstStyle/>
          <a:p>
            <a:r>
              <a:rPr lang="en-US" dirty="0" smtClean="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79484" y="1609344"/>
            <a:ext cx="8915400" cy="4925568"/>
          </a:xfrm>
        </p:spPr>
        <p:txBody>
          <a:bodyPr>
            <a:noAutofit/>
          </a:bodyPr>
          <a:lstStyle/>
          <a:p>
            <a:r>
              <a:rPr lang="en-US" sz="2400" dirty="0">
                <a:latin typeface="Times New Roman" panose="02020603050405020304" pitchFamily="18" charset="0"/>
                <a:cs typeface="Times New Roman" panose="02020603050405020304" pitchFamily="18" charset="0"/>
              </a:rPr>
              <a:t>The Salon and Barbershop Locator System represents a significant advancement in connecting beauty service providers with potential customers. Through the implementation of Visual Basic .NET and Microsoft Access, this system offers a robust solution to the current challenges in locating and evaluating beauty services</a:t>
            </a:r>
            <a:r>
              <a:rPr lang="en-US" sz="2400" dirty="0" smtClean="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The Salon and Barbershop Locator System represents a practical and effective solution to real-world challenges in the beauty service industry. By bridging the gap between service providers and customers, this system not only solves current problems but also lays the foundation for future technological integration in the beauty service sector. The successful implementation of this project will contribute significantly to the modernization of beauty service discovery and evaluation processes.</a:t>
            </a:r>
          </a:p>
        </p:txBody>
      </p:sp>
    </p:spTree>
    <p:extLst>
      <p:ext uri="{BB962C8B-B14F-4D97-AF65-F5344CB8AC3E}">
        <p14:creationId xmlns:p14="http://schemas.microsoft.com/office/powerpoint/2010/main" val="33189427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REFRENCES</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Statista Research Department. (2024). Beauty &amp; personal care market - Statistics &amp; facts. Statista. Retrieved from </a:t>
            </a:r>
            <a:r>
              <a:rPr lang="en-US" dirty="0" smtClean="0">
                <a:hlinkClick r:id="rId2"/>
              </a:rPr>
              <a:t>https://www.statista.com/topics/4503/beauty-and-personal-care-market/</a:t>
            </a:r>
            <a:endParaRPr lang="en-US" dirty="0" smtClean="0"/>
          </a:p>
          <a:p>
            <a:r>
              <a:rPr lang="en-US" dirty="0" smtClean="0"/>
              <a:t>IBISWorld. (2023). Hair &amp; nail salons in the US - Market size 2005–2024. Industry Report 81211. Retrieved from </a:t>
            </a:r>
            <a:r>
              <a:rPr lang="en-US" dirty="0" smtClean="0">
                <a:hlinkClick r:id="rId3"/>
              </a:rPr>
              <a:t>https://www.ibisworld.com/industry-statistics/market-size/hair-nail-salons-united-states/</a:t>
            </a:r>
            <a:endParaRPr lang="en-US" dirty="0" smtClean="0"/>
          </a:p>
          <a:p>
            <a:r>
              <a:rPr lang="en-US" dirty="0" smtClean="0"/>
              <a:t>Johnson, M. A., &amp; Smith, K. B. (2023). Location-based service applications in the beauty industry: A systematic review. Journal of Information Systems, 45(2), 112-128.</a:t>
            </a:r>
          </a:p>
          <a:p>
            <a:r>
              <a:rPr lang="en-US" dirty="0" smtClean="0"/>
              <a:t>Thompson, R., &amp; Wilson, J. (2022). Development of a salon finder system using Visual Basic:</a:t>
            </a:r>
          </a:p>
          <a:p>
            <a:endParaRPr lang="en-US" dirty="0"/>
          </a:p>
        </p:txBody>
      </p:sp>
    </p:spTree>
    <p:extLst>
      <p:ext uri="{BB962C8B-B14F-4D97-AF65-F5344CB8AC3E}">
        <p14:creationId xmlns:p14="http://schemas.microsoft.com/office/powerpoint/2010/main" val="2008000748"/>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756</TotalTime>
  <Words>1096</Words>
  <Application>Microsoft Office PowerPoint</Application>
  <PresentationFormat>Widescreen</PresentationFormat>
  <Paragraphs>199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Century Gothic</vt:lpstr>
      <vt:lpstr>Times New Roman</vt:lpstr>
      <vt:lpstr>Wingdings</vt:lpstr>
      <vt:lpstr>Wingdings 3</vt:lpstr>
      <vt:lpstr>Wisp</vt:lpstr>
      <vt:lpstr>GLAMSPACE: YOUR BEAUTY HUB</vt:lpstr>
      <vt:lpstr>BACKGROUND</vt:lpstr>
      <vt:lpstr>PROBLEM STATEMENT</vt:lpstr>
      <vt:lpstr>PROPOSED SOLUTION</vt:lpstr>
      <vt:lpstr>PROJECT OBJECTIVES</vt:lpstr>
      <vt:lpstr>PROJECT SCOPE</vt:lpstr>
      <vt:lpstr>PROJECT JUSTIFICATION</vt:lpstr>
      <vt:lpstr>LITERATURE REVIEW</vt:lpstr>
      <vt:lpstr>DEVELOPMENT METHODOLOGY</vt:lpstr>
      <vt:lpstr>PROJECT RESOURCES</vt:lpstr>
      <vt:lpstr>PROJECT BUDGET</vt:lpstr>
      <vt:lpstr>PROJECT SCHEDULE</vt:lpstr>
      <vt:lpstr>conti</vt:lpstr>
      <vt:lpstr>PROJECT GANTT CHART</vt:lpstr>
      <vt:lpstr>PROJECT RISKS AND MITIGATION</vt:lpstr>
      <vt:lpstr>CONCLUSION</vt:lpstr>
      <vt:lpstr>REFRENCES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GLAMSPACE: YOUR BEAUTYHUB</dc:title>
  <dc:creator>Amadi Allela</dc:creator>
  <cp:lastModifiedBy>Amadi Allela</cp:lastModifiedBy>
  <cp:revision>25</cp:revision>
  <dcterms:created xsi:type="dcterms:W3CDTF">2025-02-06T10:29:33Z</dcterms:created>
  <dcterms:modified xsi:type="dcterms:W3CDTF">2025-02-09T17:39:21Z</dcterms:modified>
</cp:coreProperties>
</file>